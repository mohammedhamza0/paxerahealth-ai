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AI-Powered Medical Image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CD4"/>
                </a:solidFill>
                <a:latin typeface="Calibri"/>
              </a:defRPr>
            </a:pPr>
            <a:r>
              <a:t>U-Net Architecture for Surgical Instrument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09C"/>
                </a:solidFill>
                <a:latin typeface="Calibri"/>
              </a:defRPr>
            </a:pPr>
            <a:r>
              <a:t>PaxeraHealth — AI Candidate Technical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Calibri"/>
              </a:defRPr>
            </a:pPr>
            <a:r>
              <a:t>EndoVis 2017 Dataset  |  TensorFlow / Keras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3716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Surgical instrument segmentation challenge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38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EndoVis 2017 — structure, statistics, and visualization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42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Resize, normalize, augment, and split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00399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821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U-Net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186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Custom architecture built from scratch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22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Training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858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Loss functions, optimizer, callbacks, hyperparameters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Results &amp;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498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Dice, IoU, pixel accuracy, visual comparison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120639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0235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138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Architecture choices and trade-offs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760719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7424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7790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Next steps and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201168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  <a:latin typeface="Calibri"/>
              </a:defRPr>
            </a:pPr>
            <a:r>
              <a:t>Develop a deep learning pipeline to perform pixel-level segmentation of surgical instruments in endoscopic video frames, supporting both binary and multi-class classification using the U-Net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84048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54864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Option 1: Binary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Classify each pixel as instrument or background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Output: single-channel binary mask (0 or 1)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Loss: Binary Cross-Entropy + Dice Loss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Simpler, faster convergence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560320"/>
            <a:ext cx="384048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83480" y="2743200"/>
            <a:ext cx="54864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Option 2: Multi-Class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63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Classify each pixel into N instrument classes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Output: N-channel softmax probability map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Loss: Categorical Cross-Entropy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Richer semantic understanding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8229600" cy="128016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CD4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Class imbalance — instruments occupy small portion of the frame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Specular reflections and motion blur in endoscopic imagery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Precise boundary delineation is critical for surgical 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8288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  <a:latin typeface="Calibri"/>
              </a:defRPr>
            </a:pPr>
            <a:r>
              <a:t>EndoVis 2017 — Binary Segmentation Challenge Dataset (Kaggle)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920240" cy="13716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MICCAI EndoVis</a:t>
            </a:r>
            <a:br/>
            <a:r>
              <a:t>Challenge 2017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737360"/>
            <a:ext cx="1920240" cy="13716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Calibri"/>
              </a:defRPr>
            </a:pPr>
            <a:r>
              <a:t>Modality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945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Endoscopic</a:t>
            </a:r>
            <a:br/>
            <a:r>
              <a:t>Surgical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37360"/>
            <a:ext cx="1920240" cy="13716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1945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Instrument</a:t>
            </a:r>
            <a:br/>
            <a:r>
              <a:t>Segmentation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737360"/>
            <a:ext cx="1920240" cy="13716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945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RGB Images +</a:t>
            </a:r>
            <a:br/>
            <a:r>
              <a:t>Binary/Multi Masks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3840480" cy="27432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CD4"/>
                </a:solidFill>
                <a:latin typeface="Calibri"/>
              </a:defRPr>
            </a:pPr>
            <a:r>
              <a:t>Dataset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📁 BinarySegmentation/</a:t>
            </a:r>
            <a:br/>
            <a:r>
              <a:t>   ├── 📁 images/</a:t>
            </a:r>
            <a:br/>
            <a:r>
              <a:t>   │     ├── frame_001.png</a:t>
            </a:r>
            <a:br/>
            <a:r>
              <a:t>   │     ├── frame_002.png</a:t>
            </a:r>
            <a:br/>
            <a:r>
              <a:t>   │     └── ...</a:t>
            </a:r>
            <a:br/>
            <a:r>
              <a:t>   └── 📁 masks/</a:t>
            </a:r>
            <a:br/>
            <a:r>
              <a:t>         ├── frame_001.png</a:t>
            </a:r>
            <a:br/>
            <a:r>
              <a:t>         ├── frame_002.png</a:t>
            </a:r>
            <a:br/>
            <a:r>
              <a:t>         └──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383280"/>
            <a:ext cx="3840480" cy="27432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CD4"/>
                </a:solidFill>
                <a:latin typeface="Calibri"/>
              </a:defRPr>
            </a:pPr>
            <a:r>
              <a:t>Key Statistics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4048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EC5"/>
                </a:solidFill>
                <a:latin typeface="Calibri"/>
              </a:defRPr>
            </a:pPr>
            <a:r>
              <a:t>  •  High-resolution endoscopic frames</a:t>
            </a:r>
          </a:p>
          <a:p>
            <a:pPr>
              <a:spcAft>
                <a:spcPts val="800"/>
              </a:spcAft>
              <a:defRPr sz="1200">
                <a:solidFill>
                  <a:srgbClr val="B0BEC5"/>
                </a:solidFill>
                <a:latin typeface="Calibri"/>
              </a:defRPr>
            </a:pPr>
            <a:r>
              <a:t>  •  Binary masks: 0 (background), 255 (instrument)</a:t>
            </a:r>
          </a:p>
          <a:p>
            <a:pPr>
              <a:spcAft>
                <a:spcPts val="800"/>
              </a:spcAft>
              <a:defRPr sz="1200">
                <a:solidFill>
                  <a:srgbClr val="B0BEC5"/>
                </a:solidFill>
                <a:latin typeface="Calibri"/>
              </a:defRPr>
            </a:pPr>
            <a:r>
              <a:t>  •  Multi-class masks: unique values per class</a:t>
            </a:r>
          </a:p>
          <a:p>
            <a:pPr>
              <a:spcAft>
                <a:spcPts val="800"/>
              </a:spcAft>
              <a:defRPr sz="1200">
                <a:solidFill>
                  <a:srgbClr val="B0BEC5"/>
                </a:solidFill>
                <a:latin typeface="Calibri"/>
              </a:defRPr>
            </a:pPr>
            <a:r>
              <a:t>  •  Foreground ratio: typically 5-15%</a:t>
            </a:r>
          </a:p>
          <a:p>
            <a:pPr>
              <a:spcAft>
                <a:spcPts val="800"/>
              </a:spcAft>
              <a:defRPr sz="1200">
                <a:solidFill>
                  <a:srgbClr val="B0BEC5"/>
                </a:solidFill>
                <a:latin typeface="Calibri"/>
              </a:defRPr>
            </a:pPr>
            <a:r>
              <a:t>  •  Significant class imbalance</a:t>
            </a:r>
          </a:p>
          <a:p>
            <a:pPr>
              <a:spcAft>
                <a:spcPts val="800"/>
              </a:spcAft>
              <a:defRPr sz="1200">
                <a:solidFill>
                  <a:srgbClr val="B0BEC5"/>
                </a:solidFill>
                <a:latin typeface="Calibri"/>
              </a:defRPr>
            </a:pPr>
            <a:r>
              <a:t>  •  Requires careful augmentation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27432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554480" cy="20116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1.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Load images (RGB)</a:t>
            </a:r>
            <a:br/>
            <a:r>
              <a:t>and masks (grayscale)</a:t>
            </a:r>
            <a:br/>
            <a:r>
              <a:t>from disk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47088" y="2103120"/>
            <a:ext cx="18288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11679" y="1280160"/>
            <a:ext cx="1554480" cy="20116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19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D4"/>
                </a:solidFill>
                <a:latin typeface="Calibri"/>
              </a:defRPr>
            </a:pPr>
            <a:r>
              <a:t>2. Resize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9" y="17830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Resize to 256×256</a:t>
            </a:r>
            <a:br/>
            <a:r>
              <a:t>Bilinear for images</a:t>
            </a:r>
            <a:br/>
            <a:r>
              <a:t>Nearest for masks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84447" y="2103120"/>
            <a:ext cx="18288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49039" y="1280160"/>
            <a:ext cx="1554480" cy="20116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79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3. 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17830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Scale pixel values</a:t>
            </a:r>
            <a:br/>
            <a:r>
              <a:t>to [0, 1] range</a:t>
            </a:r>
            <a:br/>
            <a:r>
              <a:t>(divide by 255)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21807" y="2103120"/>
            <a:ext cx="18288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399" y="1280160"/>
            <a:ext cx="1554480" cy="20116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39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800"/>
                </a:solidFill>
                <a:latin typeface="Calibri"/>
              </a:defRPr>
            </a:pPr>
            <a:r>
              <a:t>4. Augment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39" y="17830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Albumentations:</a:t>
            </a:r>
            <a:br/>
            <a:r>
              <a:t>Flip, Rotate, Elastic</a:t>
            </a:r>
            <a:br/>
            <a:r>
              <a:t>Brightness, Noise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59167" y="2103120"/>
            <a:ext cx="18288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23759" y="1280160"/>
            <a:ext cx="1554480" cy="20116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199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B47BC"/>
                </a:solidFill>
                <a:latin typeface="Calibri"/>
              </a:defRPr>
            </a:pPr>
            <a:r>
              <a:t>5.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17830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80% Train</a:t>
            </a:r>
            <a:br/>
            <a:r>
              <a:t>20% Test</a:t>
            </a:r>
            <a:br/>
            <a:r>
              <a:t>Random state=42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4114800" cy="3093396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4360" y="3840480"/>
            <a:ext cx="54864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794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rPr dirty="0"/>
              <a:t>Augmentation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3749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HorizontalFlip</a:t>
            </a:r>
            <a:r>
              <a:rPr dirty="0"/>
              <a:t> (p=0.5)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VerticalFlip</a:t>
            </a:r>
            <a:r>
              <a:rPr dirty="0"/>
              <a:t> (p=0.3)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RandomRotate90 (p=0.3)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ShiftScaleRotate</a:t>
            </a:r>
            <a:r>
              <a:rPr dirty="0"/>
              <a:t> (shift=0.05, scale=0.1, rot=15°, p=0.5)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ElasticTransform</a:t>
            </a:r>
            <a:r>
              <a:rPr dirty="0"/>
              <a:t> (α=50, σ=2.5, p=0.3)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RandomBrightnessContrast</a:t>
            </a:r>
            <a:r>
              <a:rPr dirty="0"/>
              <a:t> (±0.2, p=0.4)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GaussNoise</a:t>
            </a:r>
            <a:r>
              <a:rPr dirty="0"/>
              <a:t> (var=5-30, p=0.2)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GaussianBlur</a:t>
            </a:r>
            <a:r>
              <a:rPr dirty="0"/>
              <a:t> (kernel=3-5, p=0.2)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3657599"/>
            <a:ext cx="3840480" cy="2830749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983480" y="3840480"/>
            <a:ext cx="54864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66360" y="3794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Why These Augmentations?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16052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Flips &amp; rotations: endoscope orientation varies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Elastic transforms: mimic tissue deformation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Brightness: handle variable lighting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Noise &amp; blur: improve robustness to artifacts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All augmentations applied to both image AND mask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tf.data</a:t>
            </a:r>
            <a:r>
              <a:rPr dirty="0"/>
              <a:t> pipeline for efficient GPU utilization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U-Net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8288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572000" cy="4114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CD4"/>
                </a:solidFill>
                <a:latin typeface="Calibri"/>
              </a:defRPr>
            </a:pPr>
            <a:r>
              <a:t>Custom U-Net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Input (256×256×3)</a:t>
            </a:r>
            <a:br/>
            <a:r>
              <a:t>  │</a:t>
            </a:r>
            <a:br/>
            <a:r>
              <a:t>  ├─ Encoder 1: Conv(64) → BN → ReLU × 2 → MaxPool</a:t>
            </a:r>
            <a:br/>
            <a:r>
              <a:t>  ├─ Encoder 2: Conv(128) → BN → ReLU × 2 → MaxPool</a:t>
            </a:r>
            <a:br/>
            <a:r>
              <a:t>  ├─ Encoder 3: Conv(256) → BN → ReLU × 2 → MaxPool</a:t>
            </a:r>
            <a:br/>
            <a:r>
              <a:t>  ├─ Encoder 4: Conv(512) → BN → ReLU × 2 → MaxPool</a:t>
            </a:r>
            <a:br/>
            <a:r>
              <a:t>  │</a:t>
            </a:r>
            <a:br/>
            <a:r>
              <a:t>  ├─ Bottleneck: Conv(1024) → BN → ReLU × 2</a:t>
            </a:r>
            <a:br/>
            <a:r>
              <a:t>  │</a:t>
            </a:r>
            <a:br/>
            <a:r>
              <a:t>  ├─ Decoder 1: UpConv(512) + Skip₄ → Conv × 2</a:t>
            </a:r>
            <a:br/>
            <a:r>
              <a:t>  ├─ Decoder 2: UpConv(256) + Skip₃ → Conv × 2</a:t>
            </a:r>
            <a:br/>
            <a:r>
              <a:t>  ├─ Decoder 3: UpConv(128) + Skip₂ → Conv × 2</a:t>
            </a:r>
            <a:br/>
            <a:r>
              <a:t>  ├─ Decoder 4: UpConv(64)  + Skip₁ → Conv × 2</a:t>
            </a:r>
            <a:br/>
            <a:r>
              <a:t>  │</a:t>
            </a:r>
            <a:br/>
            <a:r>
              <a:t>  └─ Output: Conv(1, 1×1, sigmoid)  [Binary]</a:t>
            </a:r>
            <a:br/>
            <a:r>
              <a:t>     Output: Conv(N, 1×1, softmax)  [Multi-Class]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749038"/>
            <a:ext cx="3451374" cy="2593395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40680" y="3931919"/>
            <a:ext cx="54864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3560" y="38861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Architecture 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25195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Skip connections: preserve spatial detail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Batch Normalization: training stability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Dropout (20%): prevent overfitting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He Normal initialization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Same padding: maintain spatial dims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~31M parameters (scratch model)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8288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4864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Epochs: 50 (with early stopping)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Batch Size: 16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Learning Rate: 1e-4 (Adam optimizer)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Image Size: 256 × 256 × 3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Train/Test Split: 80/20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54864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Loss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Binary: BCE + Dice Loss (combined)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BCE handles pixel classification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Dice handles class imbalance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Multi-Class: Categorical Cross-Entropy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Suitable for one-hot encoded masks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8"/>
            <a:ext cx="3931920" cy="2933863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3931919"/>
            <a:ext cx="54864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861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Training Callbacks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59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ModelCheckpoint: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Save best model (monitor: val_loss)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EarlyStopping: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Patience: 10 epochs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Restore best weights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ReduceLROnPlateau: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Factor: 0.5, Patience: 5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Min LR: 1e-7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749039"/>
            <a:ext cx="3931920" cy="2933862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92040" y="3931919"/>
            <a:ext cx="54864" cy="32004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38861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51959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Dice Coefficient (F1 Score):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2|A∩B| / (|A| + |B|)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IoU (Jaccard Index):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|A∩B| / |A∪B|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Pixel Accuracy: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Correct pixels / Total pixels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Mean IoU (multi-class):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  → Average IoU across all classes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&amp; Evaluation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27432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Both model variants trained and evaluated on the test 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Dice / mIoU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Pixel Acc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UNet Scratch (Binary)</a:t>
                      </a:r>
                    </a:p>
                  </a:txBody>
                  <a:tcPr>
                    <a:solidFill>
                      <a:srgbClr val="1B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0.8745</a:t>
                      </a:r>
                    </a:p>
                  </a:txBody>
                  <a:tcPr>
                    <a:solidFill>
                      <a:srgbClr val="1B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0.7887</a:t>
                      </a:r>
                    </a:p>
                  </a:txBody>
                  <a:tcPr>
                    <a:solidFill>
                      <a:srgbClr val="1B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0.9713</a:t>
                      </a:r>
                    </a:p>
                  </a:txBody>
                  <a:tcPr>
                    <a:solidFill>
                      <a:srgbClr val="1B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~31M</a:t>
                      </a:r>
                    </a:p>
                  </a:txBody>
                  <a:tcPr>
                    <a:solidFill>
                      <a:srgbClr val="1B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UNet Scratch (Multi-Class)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0.6844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0.9767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EC5"/>
                          </a:solidFill>
                        </a:defRPr>
                      </a:pPr>
                      <a:r>
                        <a:t>~31M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8229600" cy="6400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909C"/>
                </a:solidFill>
                <a:latin typeface="Calibri"/>
              </a:defRPr>
            </a:pPr>
            <a:r>
              <a:t>📊 Note: Values shown reflect actual test set performance from the complete evaluation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39"/>
            <a:ext cx="3931920" cy="1533079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5303520"/>
            <a:ext cx="54864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Binary Segmentation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Single-channel prediction (0 or 1)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Green overlay on original image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Sharp instrument boundaries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5120640"/>
            <a:ext cx="3931920" cy="1463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92040" y="5303520"/>
            <a:ext cx="54864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525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Multi-Class Segmentation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623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Color-coded class predictions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Each class has unique color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Per-class IoU breakdown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Visual Segmentation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27432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Prediction pipeline: Input Image → Ground Truth Mask → Model Prediction → Overlay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920240" cy="19202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CC"/>
                </a:solidFill>
                <a:latin typeface="Calibri"/>
              </a:defRPr>
            </a:pPr>
            <a:r>
              <a:t>[Input Image]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Input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737360"/>
            <a:ext cx="1920240" cy="19202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CD4"/>
                </a:solidFill>
                <a:latin typeface="Calibri"/>
              </a:defRPr>
            </a:pPr>
            <a:r>
              <a:t>[Ground Truth]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703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Ground 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37360"/>
            <a:ext cx="1920240" cy="19202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9800"/>
                </a:solidFill>
                <a:latin typeface="Calibri"/>
              </a:defRPr>
            </a:pPr>
            <a:r>
              <a:t>[Prediction]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03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737360"/>
            <a:ext cx="1920240" cy="19202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[Overlay]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703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Overlay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93192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4480560"/>
            <a:ext cx="54864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Binary Results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Clear instrument boundary detection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Green overlay shows predicted regions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High precision on well-defined edges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Dice scores computed per-sample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297680"/>
            <a:ext cx="393192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892040" y="4480560"/>
            <a:ext cx="54864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Multi-Class Results 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8006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Color-coded masks per instrument class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Tab10 colormap for distinct classes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Side-by-side GT vs Prediction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Mean IoU across all classes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Technical Decisions &amp; 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32004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4864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Why Binary and Multi-Class?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Binary: simpler, faster training, cleaner results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Multi-Class: richer semantic info for surgical planning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Demonstrates versatility in approach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Same architecture adapts to both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54864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Why Train From Scratch?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Demonstrates deep understanding of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Full control over design choices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No dependency on external pretrained weights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Customizable to specific medical 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3931919"/>
            <a:ext cx="54864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861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Why BCE + Dice Loss?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5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BCE: standard pixel-level classification loss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Dice: directly optimizes the evaluation metric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Combined: handles class imbalance effectively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Better than BCE alone for sparse masks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749039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92040" y="3931919"/>
            <a:ext cx="54864" cy="32004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38861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Calibri"/>
              </a:defRPr>
            </a:pPr>
            <a:r>
              <a:t>Why Albumentations?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5195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GPU-friendly augmentation pipeline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Spatial transforms apply to both image &amp; mask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Rich library of medical-image-specific augments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Elastic transforms mimic tissue deformation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2286000" cy="45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4864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Architecture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Attention U-Net: focus on relevant regions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U-Net++: nested skip connections for richer features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DeepLabV3+: atrous convolutions for multi-scale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TransUNet: Vision Transformer + U-Net hybrid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54864" cy="3200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CD4"/>
                </a:solidFill>
                <a:latin typeface="Calibri"/>
              </a:defRPr>
            </a:pPr>
            <a:r>
              <a:t>Training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Cosine annealing learning rate schedule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Mixed precision training (FP16) for speed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Test-time augmentation (TTA) for better predictions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K-fold cross validation for robust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3931919"/>
            <a:ext cx="54864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861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Post-Processing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5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CRF (Conditional Random Fields) refinement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Morphological operations for clean boundaries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Connected component analysis to remove noise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Ensemble predictions from multiple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749039"/>
            <a:ext cx="393192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92040" y="3931919"/>
            <a:ext cx="54864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38861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Production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5195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ONNX/TensorRT model optimization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Real-time inference (&gt;30 FPS target)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Edge deployment for surgical systems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Model quantization (INT8) for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C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3840480"/>
            <a:ext cx="6400800" cy="22860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08760" y="4023360"/>
            <a:ext cx="54864" cy="3200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3977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CD4"/>
                </a:solidFill>
                <a:latin typeface="Calibri"/>
              </a:defRPr>
            </a:pPr>
            <a:r>
              <a:t>Solution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34340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✓  Both Binary and Multi-Class segmentation implemented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✓  Custom U-Net built from scratch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✓  Complete data pipeline: load → augment → train → evaluate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✓  Metrics: Dice Coefficient, IoU, Pixel Accuracy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  •  ✓  Professional visualization of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1647</Words>
  <Application>Microsoft Office PowerPoint</Application>
  <PresentationFormat>On-screen Show (4:3)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Hamza</cp:lastModifiedBy>
  <cp:revision>2</cp:revision>
  <dcterms:created xsi:type="dcterms:W3CDTF">2013-01-27T09:14:16Z</dcterms:created>
  <dcterms:modified xsi:type="dcterms:W3CDTF">2026-04-28T14:36:29Z</dcterms:modified>
  <cp:category/>
</cp:coreProperties>
</file>